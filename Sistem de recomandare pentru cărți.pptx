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7" r:id="rId5"/>
    <p:sldId id="258" r:id="rId6"/>
    <p:sldId id="260" r:id="rId7"/>
    <p:sldId id="262" r:id="rId8"/>
    <p:sldId id="267" r:id="rId9"/>
    <p:sldId id="269" r:id="rId10"/>
    <p:sldId id="263" r:id="rId11"/>
    <p:sldId id="270" r:id="rId12"/>
    <p:sldId id="271" r:id="rId13"/>
    <p:sldId id="272" r:id="rId14"/>
    <p:sldId id="273" r:id="rId15"/>
    <p:sldId id="268" r:id="rId1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315D594-593B-4ED9-A2A3-3E0769262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141A8197-FB48-4330-B5CF-845385AB3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32CBB4E-0807-416C-8586-26C09AD2F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DB9E6677-BC92-47A2-9F73-7D00019F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77D526E-BC17-43B9-8768-6E120B8A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0182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72897B8-26AE-48FC-BA6B-2FC7B9E9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39266D9-4761-4EA0-B71F-F95D0E984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71949AF-5710-418F-B56B-29CC5B9E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3573D995-2EA6-4A51-8107-13381318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159056B-3D91-40F8-90E4-24DFE07D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5377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8FD102F-055B-4B25-BAA0-51C8FF703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FDB828CC-3484-4EFE-967A-D15E15484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10BD293-BE63-4E18-9582-C3A90C4C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E435D9B-885C-462B-88A9-FE23698C6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D5F7582-557C-41D0-A1DB-D233A8A2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4148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3A5F504-F748-4A63-947A-438010EF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450F78C-0B3E-4296-A9AF-756C2FAB8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0FC0A565-2810-4AAF-9730-0BA78A8B3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433AABCA-B16C-452D-B538-83B5F950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A863BCFB-24B5-4CD4-9AA4-14057F4C6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57B7F427-06B6-4934-AC7F-DE4AF90B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1517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42E17B4-39A9-49DD-90F4-66585B6D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203A2B6-9051-40FE-98F3-50F26BFE9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C9FDC9D5-37A5-49AC-A300-1530AF82F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BE122B6A-96DB-4EC0-B7A5-DD3D41A77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D0CB9354-01A8-4471-9046-A3BB8C7DDB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1A06C4C8-772C-4E99-A612-53A010A5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83C24B39-642C-47EB-B1DB-6A3C6EB4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E3E96CA-A5B8-449B-8C19-829C31886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595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00F6891-EA43-4EF5-839B-019FC4C9E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AC923235-5F38-4E5A-94A5-B21A8D72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C1FF4EBD-0D59-4A33-91EA-E4917A82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347846C0-75DD-4BEC-8F1F-133C54A62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07701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999F9121-A6CF-495C-9C31-7A45AD631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80DA87FC-F989-484D-AC08-AE501C17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E1B43303-3031-4AC4-B659-55E05B585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776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189F666-88D5-4823-8F99-834730F33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73688D6-32F4-4801-8E42-CC243BDFB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D8D98651-D2E5-4B71-BD63-532F2F75E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CB0BE2A9-0142-4FBA-9613-2175A348B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7CB388B7-6DD6-4437-BECD-B1636A07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73087D6-5A6B-4A1D-8DD1-2428BBF79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0580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5F45C1F-02DE-400C-93AC-5B9A19CB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47369B95-1B43-4DD4-8FE2-C1EDCC7EB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35794F94-3A22-4ECD-9F23-F269F9B56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9C88164-A0C4-4C2A-B890-1723F962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A05898BA-C0A1-4B78-AF2A-C37FEA7A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4828CD1-4CB6-4AAD-B795-9A5B0252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52586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2E3D5DE-6273-4AAA-B0D6-3893F0B9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BA19704B-08A2-46E9-AA8F-91CAE87C8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E81F6E3-8A2B-4868-9B97-160D2EE7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F7395A2-ECD3-4F70-8049-2CB603466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CF7C3ED-5C88-468B-AF36-C7B418B5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915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77C9890D-EAD2-480A-BA54-BE22F6F6C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4A437719-7DF4-409C-B875-03377F2B1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B607FAD-E154-4A58-AB18-D367CE66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C5AA8B6-CAC8-4262-958E-2CFC1B75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EB3BF75-EF08-47CF-A52D-368C4E15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9269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5F745511-BF6D-489C-A03A-78D3A1FA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7FDF43C-4646-4102-A400-46876C24B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80C9487-16EC-44E4-8D9D-CE3B1F907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FBB72-66DD-47BF-9122-36DCF6403FFD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CADC309A-9012-4FEE-B2C6-CEC2720F80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6C5A97-9EF4-4238-A369-E7DAEE5FE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14020-D898-4923-B39A-772FDA61EFB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239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kaggle.com/datasets/syedjaferk/book-crossing-datase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D7CF3D2-207F-44F8-BA97-EC08B72FD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1330"/>
            <a:ext cx="9144000" cy="1294833"/>
          </a:xfrm>
        </p:spPr>
        <p:txBody>
          <a:bodyPr>
            <a:normAutofit fontScale="90000"/>
          </a:bodyPr>
          <a:lstStyle/>
          <a:p>
            <a:r>
              <a:rPr lang="ro-RO" sz="4400" b="1" dirty="0">
                <a:latin typeface="Book Antiqua" panose="02040602050305030304" pitchFamily="18" charset="0"/>
              </a:rPr>
              <a:t>Sistem de recomandare pentru cărți bazat pe filtrare </a:t>
            </a:r>
            <a:r>
              <a:rPr lang="ro-RO" sz="4400" b="1" dirty="0" err="1">
                <a:latin typeface="Book Antiqua" panose="02040602050305030304" pitchFamily="18" charset="0"/>
              </a:rPr>
              <a:t>colaborativă</a:t>
            </a:r>
            <a:endParaRPr lang="ro-RO" sz="4400" b="1" dirty="0">
              <a:latin typeface="Book Antiqua" panose="02040602050305030304" pitchFamily="18" charset="0"/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EAB5F1F5-BAEB-4EC5-B1EF-6AF1BA394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1464" y="2601119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ro-RO" sz="2800" b="1" dirty="0">
                <a:latin typeface="Book Antiqua" panose="02040602050305030304" pitchFamily="18" charset="0"/>
              </a:rPr>
              <a:t>Student: Bitoleanu Eugen Andrei Eduard</a:t>
            </a:r>
          </a:p>
          <a:p>
            <a:pPr algn="l"/>
            <a:r>
              <a:rPr lang="ro-RO" sz="2800" b="1" dirty="0">
                <a:latin typeface="Book Antiqua" panose="02040602050305030304" pitchFamily="18" charset="0"/>
              </a:rPr>
              <a:t>Grupa: S1A</a:t>
            </a:r>
          </a:p>
          <a:p>
            <a:pPr algn="l"/>
            <a:r>
              <a:rPr lang="ro-RO" sz="2800" b="1" dirty="0">
                <a:latin typeface="Book Antiqua" panose="02040602050305030304" pitchFamily="18" charset="0"/>
              </a:rPr>
              <a:t>Specializarea: Calculatoare(Română)</a:t>
            </a:r>
          </a:p>
        </p:txBody>
      </p:sp>
    </p:spTree>
    <p:extLst>
      <p:ext uri="{BB962C8B-B14F-4D97-AF65-F5344CB8AC3E}">
        <p14:creationId xmlns:p14="http://schemas.microsoft.com/office/powerpoint/2010/main" val="4099484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E22E588-E505-4A94-A2A9-6DD958A7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Necesitatea sistemelor de recomandare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3C98EC1-5577-467A-A37B-90D724FB1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o-RO" sz="2000" b="1" dirty="0">
                <a:latin typeface="Book Antiqua" panose="02040602050305030304" pitchFamily="18" charset="0"/>
              </a:rPr>
              <a:t>Contextul problemei</a:t>
            </a:r>
            <a:endParaRPr lang="ro-RO" sz="20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ro-RO" sz="2000" dirty="0">
                <a:latin typeface="Book Antiqua" panose="02040602050305030304" pitchFamily="18" charset="0"/>
              </a:rPr>
              <a:t>Platformele digitale oferă mii sau milioane de </a:t>
            </a:r>
            <a:r>
              <a:rPr lang="ro-RO" sz="2000" dirty="0" err="1">
                <a:latin typeface="Book Antiqua" panose="02040602050305030304" pitchFamily="18" charset="0"/>
              </a:rPr>
              <a:t>produse.Utilizatorii</a:t>
            </a:r>
            <a:r>
              <a:rPr lang="ro-RO" sz="2000" dirty="0">
                <a:latin typeface="Book Antiqua" panose="02040602050305030304" pitchFamily="18" charset="0"/>
              </a:rPr>
              <a:t> se confruntă cu următoarele situații:</a:t>
            </a:r>
          </a:p>
          <a:p>
            <a:pPr algn="just"/>
            <a:r>
              <a:rPr lang="ro-RO" sz="2000" dirty="0">
                <a:latin typeface="Book Antiqua" panose="02040602050305030304" pitchFamily="18" charset="0"/>
              </a:rPr>
              <a:t>dificultate în alegerea unui produs</a:t>
            </a:r>
          </a:p>
          <a:p>
            <a:pPr algn="just"/>
            <a:r>
              <a:rPr lang="ro-RO" sz="2000" dirty="0">
                <a:latin typeface="Book Antiqua" panose="02040602050305030304" pitchFamily="18" charset="0"/>
              </a:rPr>
              <a:t>timp mare de căutare pentru diverse produse</a:t>
            </a:r>
          </a:p>
          <a:p>
            <a:pPr algn="just"/>
            <a:r>
              <a:rPr lang="ro-RO" sz="2000" dirty="0">
                <a:latin typeface="Book Antiqua" panose="02040602050305030304" pitchFamily="18" charset="0"/>
              </a:rPr>
              <a:t>decizii neinformate fără un rezultat concret</a:t>
            </a:r>
          </a:p>
          <a:p>
            <a:pPr marL="0" indent="0" algn="just">
              <a:buNone/>
            </a:pPr>
            <a:r>
              <a:rPr lang="ro-RO" sz="2000" dirty="0">
                <a:latin typeface="Book Antiqua" panose="02040602050305030304" pitchFamily="18" charset="0"/>
              </a:rPr>
              <a:t>Acest context conduce la fenomenul cunoscut sub numele de </a:t>
            </a:r>
            <a:r>
              <a:rPr lang="ro-RO" sz="2000" b="1" i="1" dirty="0" err="1">
                <a:latin typeface="Book Antiqua" panose="02040602050305030304" pitchFamily="18" charset="0"/>
              </a:rPr>
              <a:t>information</a:t>
            </a:r>
            <a:r>
              <a:rPr lang="ro-RO" sz="2000" b="1" i="1" dirty="0">
                <a:latin typeface="Book Antiqua" panose="02040602050305030304" pitchFamily="18" charset="0"/>
              </a:rPr>
              <a:t> </a:t>
            </a:r>
            <a:r>
              <a:rPr lang="ro-RO" sz="2000" b="1" i="1" dirty="0" err="1">
                <a:latin typeface="Book Antiqua" panose="02040602050305030304" pitchFamily="18" charset="0"/>
              </a:rPr>
              <a:t>overload</a:t>
            </a:r>
            <a:r>
              <a:rPr lang="ro-RO" sz="2000" dirty="0">
                <a:latin typeface="Book Antiqua" panose="02040602050305030304" pitchFamily="18" charset="0"/>
              </a:rPr>
              <a:t>, în care utilizatorii sunt expuși la prea multe opțiuni, îngreunând procesul de decizie.</a:t>
            </a:r>
          </a:p>
          <a:p>
            <a:pPr marL="0" indent="0" algn="just">
              <a:buNone/>
            </a:pPr>
            <a:r>
              <a:rPr lang="ro-RO" sz="2000" dirty="0">
                <a:latin typeface="Book Antiqua" panose="02040602050305030304" pitchFamily="18" charset="0"/>
              </a:rPr>
              <a:t>Soluția la această problemă: folosirea unui</a:t>
            </a:r>
            <a:r>
              <a:rPr lang="ro-RO" sz="2000" b="1" dirty="0">
                <a:latin typeface="Book Antiqua" panose="02040602050305030304" pitchFamily="18" charset="0"/>
              </a:rPr>
              <a:t> sistem de recomandare</a:t>
            </a:r>
          </a:p>
        </p:txBody>
      </p:sp>
    </p:spTree>
    <p:extLst>
      <p:ext uri="{BB962C8B-B14F-4D97-AF65-F5344CB8AC3E}">
        <p14:creationId xmlns:p14="http://schemas.microsoft.com/office/powerpoint/2010/main" val="11795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6715AA6-7C69-40AD-AB17-B8C6AD199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De ce un sistem de recomandare?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D7BB81A-244F-425E-8DD7-A4560561B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1" dirty="0">
                <a:latin typeface="Book Antiqua" panose="02040602050305030304" pitchFamily="18" charset="0"/>
              </a:rPr>
              <a:t>Puncte cheie</a:t>
            </a:r>
          </a:p>
          <a:p>
            <a:r>
              <a:rPr lang="ro-RO" sz="2000" dirty="0">
                <a:latin typeface="Book Antiqua" panose="02040602050305030304" pitchFamily="18" charset="0"/>
              </a:rPr>
              <a:t>personalizează experiența fiecărui utilizator</a:t>
            </a:r>
          </a:p>
          <a:p>
            <a:r>
              <a:rPr lang="ro-RO" sz="2000" dirty="0">
                <a:latin typeface="Book Antiqua" panose="02040602050305030304" pitchFamily="18" charset="0"/>
              </a:rPr>
              <a:t>reduce timpul de decizie</a:t>
            </a:r>
          </a:p>
          <a:p>
            <a:r>
              <a:rPr lang="ro-RO" sz="2000" dirty="0">
                <a:latin typeface="Book Antiqua" panose="02040602050305030304" pitchFamily="18" charset="0"/>
              </a:rPr>
              <a:t>crește satisfacția utilizatorului</a:t>
            </a:r>
          </a:p>
          <a:p>
            <a:r>
              <a:rPr lang="ro-RO" sz="2000" dirty="0">
                <a:latin typeface="Book Antiqua" panose="02040602050305030304" pitchFamily="18" charset="0"/>
              </a:rPr>
              <a:t>crește retenția pe platformă</a:t>
            </a:r>
          </a:p>
        </p:txBody>
      </p:sp>
    </p:spTree>
    <p:extLst>
      <p:ext uri="{BB962C8B-B14F-4D97-AF65-F5344CB8AC3E}">
        <p14:creationId xmlns:p14="http://schemas.microsoft.com/office/powerpoint/2010/main" val="4111948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F9D807E-6E63-4AA5-97EC-4505648D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Ce este un sistem de recomandare și cum funcționează?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FD67F01-2A24-4686-B655-AC0EBA4CB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o-RO" sz="2000" b="1" dirty="0">
                <a:latin typeface="Book Antiqua" panose="02040602050305030304" pitchFamily="18" charset="0"/>
              </a:rPr>
              <a:t>Un sistem de recomandare</a:t>
            </a:r>
            <a:r>
              <a:rPr lang="ro-RO" sz="2000" dirty="0">
                <a:latin typeface="Book Antiqua" panose="02040602050305030304" pitchFamily="18" charset="0"/>
              </a:rPr>
              <a:t>(în engleză, </a:t>
            </a:r>
            <a:r>
              <a:rPr lang="ro-RO" sz="2000" i="1" dirty="0" err="1">
                <a:latin typeface="Book Antiqua" panose="02040602050305030304" pitchFamily="18" charset="0"/>
              </a:rPr>
              <a:t>Recommender</a:t>
            </a:r>
            <a:r>
              <a:rPr lang="ro-RO" sz="2000" i="1" dirty="0">
                <a:latin typeface="Book Antiqua" panose="02040602050305030304" pitchFamily="18" charset="0"/>
              </a:rPr>
              <a:t> </a:t>
            </a:r>
            <a:r>
              <a:rPr lang="ro-RO" sz="2000" i="1" dirty="0" err="1">
                <a:latin typeface="Book Antiqua" panose="02040602050305030304" pitchFamily="18" charset="0"/>
              </a:rPr>
              <a:t>System</a:t>
            </a:r>
            <a:r>
              <a:rPr lang="ro-RO" sz="2000" dirty="0">
                <a:latin typeface="Book Antiqua" panose="02040602050305030304" pitchFamily="18" charset="0"/>
              </a:rPr>
              <a:t>) este o clasă de sisteme de filtrare a informațiilor care încearcă să prevadă preferințele utilizatorilor pentru anumite articole (produse, servicii, cărți, filme etc.).</a:t>
            </a:r>
          </a:p>
          <a:p>
            <a:pPr marL="0" indent="0" algn="just">
              <a:buNone/>
            </a:pPr>
            <a:r>
              <a:rPr lang="it-IT" sz="2000" dirty="0">
                <a:latin typeface="Book Antiqua" panose="02040602050305030304" pitchFamily="18" charset="0"/>
              </a:rPr>
              <a:t>Scopul principal al unui sistem de recomandare este de a ajuta utilizatorii să descopere articole noi pe care, cel mai probabil, le-ar găsi interesante.</a:t>
            </a:r>
            <a:endParaRPr lang="ro-RO" sz="20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ro-RO" sz="2000" dirty="0">
                <a:latin typeface="Book Antiqua" panose="02040602050305030304" pitchFamily="18" charset="0"/>
              </a:rPr>
              <a:t>Un sistem de recomandare funcționează analizând datele istorice, comportamentul, evaluările și preferințele, fie ale utilizatorului individual, fie ale unui grup mare de utilizatori, pentru a genera o listă personalizată de sugestii.</a:t>
            </a:r>
          </a:p>
          <a:p>
            <a:pPr marL="0" indent="0" algn="just">
              <a:buNone/>
            </a:pPr>
            <a:r>
              <a:rPr lang="ro-RO" sz="2000" dirty="0">
                <a:latin typeface="Book Antiqua" panose="02040602050305030304" pitchFamily="18" charset="0"/>
              </a:rPr>
              <a:t>Exemple de aplicații care utilizează sisteme de recomandare</a:t>
            </a:r>
          </a:p>
          <a:p>
            <a:pPr algn="just"/>
            <a:r>
              <a:rPr lang="ro-RO" sz="2000" b="1" dirty="0" err="1">
                <a:latin typeface="Book Antiqua" panose="02040602050305030304" pitchFamily="18" charset="0"/>
              </a:rPr>
              <a:t>Netflix</a:t>
            </a:r>
            <a:endParaRPr lang="ro-RO" sz="2000" b="1" dirty="0">
              <a:latin typeface="Book Antiqua" panose="02040602050305030304" pitchFamily="18" charset="0"/>
            </a:endParaRPr>
          </a:p>
          <a:p>
            <a:pPr algn="just"/>
            <a:r>
              <a:rPr lang="ro-RO" sz="2000" b="1" dirty="0">
                <a:latin typeface="Book Antiqua" panose="02040602050305030304" pitchFamily="18" charset="0"/>
              </a:rPr>
              <a:t>Amazon</a:t>
            </a:r>
          </a:p>
          <a:p>
            <a:pPr algn="just"/>
            <a:r>
              <a:rPr lang="ro-RO" sz="2000" b="1" dirty="0" err="1">
                <a:latin typeface="Book Antiqua" panose="02040602050305030304" pitchFamily="18" charset="0"/>
              </a:rPr>
              <a:t>Emag</a:t>
            </a:r>
            <a:r>
              <a:rPr lang="ro-RO" sz="2000" dirty="0">
                <a:latin typeface="Book Antiqua" panose="02040602050305030304" pitchFamily="18" charset="0"/>
              </a:rPr>
              <a:t> </a:t>
            </a:r>
          </a:p>
          <a:p>
            <a:pPr algn="just"/>
            <a:r>
              <a:rPr lang="ro-RO" sz="2000" b="1" dirty="0" err="1">
                <a:latin typeface="Book Antiqua" panose="02040602050305030304" pitchFamily="18" charset="0"/>
              </a:rPr>
              <a:t>Spotify</a:t>
            </a:r>
            <a:r>
              <a:rPr lang="ro-RO" sz="2000" dirty="0">
                <a:latin typeface="Book Antiqua" panose="02040602050305030304" pitchFamily="18" charset="0"/>
              </a:rPr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1273194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851F1EF-E2FA-47F0-ACCE-048958F62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Tipuri principale de sisteme de recomandare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44F8248-FE3C-4186-BF5E-D364BD7ED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>
                <a:latin typeface="Book Antiqua" panose="02040602050305030304" pitchFamily="18" charset="0"/>
              </a:rPr>
              <a:t>Pentru a reduce fenomenul de </a:t>
            </a:r>
            <a:r>
              <a:rPr lang="ro-RO" sz="2000" dirty="0" err="1">
                <a:latin typeface="Book Antiqua" panose="02040602050305030304" pitchFamily="18" charset="0"/>
              </a:rPr>
              <a:t>information</a:t>
            </a:r>
            <a:r>
              <a:rPr lang="ro-RO" sz="2000" dirty="0">
                <a:latin typeface="Book Antiqua" panose="02040602050305030304" pitchFamily="18" charset="0"/>
              </a:rPr>
              <a:t> </a:t>
            </a:r>
            <a:r>
              <a:rPr lang="ro-RO" sz="2000" dirty="0" err="1">
                <a:latin typeface="Book Antiqua" panose="02040602050305030304" pitchFamily="18" charset="0"/>
              </a:rPr>
              <a:t>overload</a:t>
            </a:r>
            <a:r>
              <a:rPr lang="ro-RO" sz="2000" dirty="0">
                <a:latin typeface="Book Antiqua" panose="02040602050305030304" pitchFamily="18" charset="0"/>
              </a:rPr>
              <a:t> s-au dezvoltat mai multe tipuri de sisteme de recomandare ,acestea fiind împărțite în funcție de modul in care se fac recomandările:</a:t>
            </a:r>
          </a:p>
          <a:p>
            <a:r>
              <a:rPr lang="ro-RO" sz="2000" b="1" dirty="0">
                <a:latin typeface="Book Antiqua" panose="02040602050305030304" pitchFamily="18" charset="0"/>
              </a:rPr>
              <a:t>filtrare bazată pe conținut(content-</a:t>
            </a:r>
            <a:r>
              <a:rPr lang="ro-RO" sz="2000" b="1" dirty="0" err="1">
                <a:latin typeface="Book Antiqua" panose="02040602050305030304" pitchFamily="18" charset="0"/>
              </a:rPr>
              <a:t>based</a:t>
            </a:r>
            <a:r>
              <a:rPr lang="ro-RO" sz="2000" b="1" dirty="0">
                <a:latin typeface="Book Antiqua" panose="02040602050305030304" pitchFamily="18" charset="0"/>
              </a:rPr>
              <a:t> </a:t>
            </a:r>
            <a:r>
              <a:rPr lang="ro-RO" sz="2000" b="1" dirty="0" err="1">
                <a:latin typeface="Book Antiqua" panose="02040602050305030304" pitchFamily="18" charset="0"/>
              </a:rPr>
              <a:t>filtering</a:t>
            </a:r>
            <a:r>
              <a:rPr lang="ro-RO" sz="2000" b="1" dirty="0">
                <a:latin typeface="Book Antiqua" panose="02040602050305030304" pitchFamily="18" charset="0"/>
              </a:rPr>
              <a:t>)</a:t>
            </a:r>
          </a:p>
          <a:p>
            <a:r>
              <a:rPr lang="ro-RO" sz="2000" b="1" dirty="0">
                <a:latin typeface="Book Antiqua" panose="02040602050305030304" pitchFamily="18" charset="0"/>
              </a:rPr>
              <a:t>filtrare </a:t>
            </a:r>
            <a:r>
              <a:rPr lang="ro-RO" sz="2000" b="1" dirty="0" err="1">
                <a:latin typeface="Book Antiqua" panose="02040602050305030304" pitchFamily="18" charset="0"/>
              </a:rPr>
              <a:t>colaborativă</a:t>
            </a:r>
            <a:r>
              <a:rPr lang="ro-RO" sz="2000" b="1" dirty="0">
                <a:latin typeface="Book Antiqua" panose="02040602050305030304" pitchFamily="18" charset="0"/>
              </a:rPr>
              <a:t>(</a:t>
            </a:r>
            <a:r>
              <a:rPr lang="ro-RO" sz="2000" b="1" dirty="0" err="1">
                <a:latin typeface="Book Antiqua" panose="02040602050305030304" pitchFamily="18" charset="0"/>
              </a:rPr>
              <a:t>collabotive</a:t>
            </a:r>
            <a:r>
              <a:rPr lang="ro-RO" sz="2000" b="1" dirty="0">
                <a:latin typeface="Book Antiqua" panose="02040602050305030304" pitchFamily="18" charset="0"/>
              </a:rPr>
              <a:t> </a:t>
            </a:r>
            <a:r>
              <a:rPr lang="ro-RO" sz="2000" b="1" dirty="0" err="1">
                <a:latin typeface="Book Antiqua" panose="02040602050305030304" pitchFamily="18" charset="0"/>
              </a:rPr>
              <a:t>filtering</a:t>
            </a:r>
            <a:r>
              <a:rPr lang="ro-RO" sz="2000" b="1" dirty="0">
                <a:latin typeface="Book Antiqua" panose="02040602050305030304" pitchFamily="18" charset="0"/>
              </a:rPr>
              <a:t>)</a:t>
            </a:r>
          </a:p>
          <a:p>
            <a:r>
              <a:rPr lang="ro-RO" sz="2000" b="1" dirty="0">
                <a:latin typeface="Book Antiqua" panose="02040602050305030304" pitchFamily="18" charset="0"/>
              </a:rPr>
              <a:t>hibride</a:t>
            </a:r>
          </a:p>
        </p:txBody>
      </p:sp>
    </p:spTree>
    <p:extLst>
      <p:ext uri="{BB962C8B-B14F-4D97-AF65-F5344CB8AC3E}">
        <p14:creationId xmlns:p14="http://schemas.microsoft.com/office/powerpoint/2010/main" val="4091887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B9ECA72-5F96-40EF-AEEB-091DDB89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Filtrare </a:t>
            </a:r>
            <a:r>
              <a:rPr lang="ro-RO" sz="3200" b="1" dirty="0" err="1">
                <a:latin typeface="Book Antiqua" panose="02040602050305030304" pitchFamily="18" charset="0"/>
              </a:rPr>
              <a:t>colaborativă</a:t>
            </a:r>
            <a:endParaRPr lang="ro-RO" sz="3200" b="1" dirty="0">
              <a:latin typeface="Book Antiqua" panose="02040602050305030304" pitchFamily="18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ED71A83-24D9-40F5-BBC7-33D142141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o-RO" sz="2000" dirty="0">
                <a:latin typeface="Book Antiqua" panose="02040602050305030304" pitchFamily="18" charset="0"/>
              </a:rPr>
              <a:t>Filtrarea </a:t>
            </a:r>
            <a:r>
              <a:rPr lang="ro-RO" sz="2000" dirty="0" err="1">
                <a:latin typeface="Book Antiqua" panose="02040602050305030304" pitchFamily="18" charset="0"/>
              </a:rPr>
              <a:t>colaborativă</a:t>
            </a:r>
            <a:r>
              <a:rPr lang="ro-RO" sz="2000" dirty="0">
                <a:latin typeface="Book Antiqua" panose="02040602050305030304" pitchFamily="18" charset="0"/>
              </a:rPr>
              <a:t> face recomandări bazate pe similaritatea dintre utilizatori – </a:t>
            </a:r>
            <a:r>
              <a:rPr lang="ro-RO" sz="2000" b="1" dirty="0" err="1">
                <a:latin typeface="Book Antiqua" panose="02040602050305030304" pitchFamily="18" charset="0"/>
              </a:rPr>
              <a:t>User-based</a:t>
            </a:r>
            <a:r>
              <a:rPr lang="ro-RO" sz="2000" dirty="0">
                <a:latin typeface="Book Antiqua" panose="02040602050305030304" pitchFamily="18" charset="0"/>
              </a:rPr>
              <a:t> (dacă utilizatorului A îi place X și Y, iar utilizatorului B îi place X, atunci B ar putea să-i placă și Y) sau pe similaritatea dintre articole – </a:t>
            </a:r>
            <a:r>
              <a:rPr lang="ro-RO" sz="2000" b="1" dirty="0">
                <a:latin typeface="Book Antiqua" panose="02040602050305030304" pitchFamily="18" charset="0"/>
              </a:rPr>
              <a:t>Item-</a:t>
            </a:r>
            <a:r>
              <a:rPr lang="ro-RO" sz="2000" b="1" dirty="0" err="1">
                <a:latin typeface="Book Antiqua" panose="02040602050305030304" pitchFamily="18" charset="0"/>
              </a:rPr>
              <a:t>based</a:t>
            </a:r>
            <a:r>
              <a:rPr lang="ro-RO" sz="2000" dirty="0">
                <a:latin typeface="Book Antiqua" panose="0204060205030503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o-RO" sz="2400" dirty="0">
                <a:latin typeface="Book Antiqua" panose="02040602050305030304" pitchFamily="18" charset="0"/>
              </a:rPr>
              <a:t>                   </a:t>
            </a:r>
          </a:p>
          <a:p>
            <a:pPr marL="0" indent="0" algn="just">
              <a:buNone/>
            </a:pPr>
            <a:r>
              <a:rPr lang="ro-RO" sz="2400" dirty="0">
                <a:latin typeface="Book Antiqua" panose="02040602050305030304" pitchFamily="18" charset="0"/>
              </a:rPr>
              <a:t>                       </a:t>
            </a:r>
            <a:r>
              <a:rPr lang="ro-RO" sz="2400" dirty="0" err="1">
                <a:latin typeface="Book Antiqua" panose="02040602050305030304" pitchFamily="18" charset="0"/>
              </a:rPr>
              <a:t>User-based</a:t>
            </a:r>
            <a:r>
              <a:rPr lang="ro-RO" sz="2400" dirty="0">
                <a:latin typeface="Book Antiqua" panose="02040602050305030304" pitchFamily="18" charset="0"/>
              </a:rPr>
              <a:t>              </a:t>
            </a:r>
            <a:r>
              <a:rPr lang="ro-RO" sz="2400" dirty="0" err="1">
                <a:latin typeface="Book Antiqua" panose="02040602050305030304" pitchFamily="18" charset="0"/>
              </a:rPr>
              <a:t>vs</a:t>
            </a:r>
            <a:r>
              <a:rPr lang="ro-RO" sz="2400" dirty="0">
                <a:latin typeface="Book Antiqua" panose="02040602050305030304" pitchFamily="18" charset="0"/>
              </a:rPr>
              <a:t>                    Item-</a:t>
            </a:r>
            <a:r>
              <a:rPr lang="ro-RO" sz="2400" dirty="0" err="1">
                <a:latin typeface="Book Antiqua" panose="02040602050305030304" pitchFamily="18" charset="0"/>
              </a:rPr>
              <a:t>based</a:t>
            </a:r>
            <a:endParaRPr lang="ro-RO" sz="2400" dirty="0">
              <a:latin typeface="Book Antiqua" panose="02040602050305030304" pitchFamily="18" charset="0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4710FF1D-05B6-4A3F-9684-D8B36B78F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644" y="3694237"/>
            <a:ext cx="1826580" cy="1720601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1F50350B-45BC-42F3-BEE1-9FE9AD4B43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07"/>
          <a:stretch/>
        </p:blipFill>
        <p:spPr>
          <a:xfrm>
            <a:off x="6012461" y="3694237"/>
            <a:ext cx="3577895" cy="172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22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00039DE-269A-4D46-AFDB-ABB41B3F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b="1" dirty="0">
                <a:latin typeface="Book Antiqua" panose="02040602050305030304" pitchFamily="18" charset="0"/>
              </a:rPr>
              <a:t>Sistem de recomandare cărți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4F25D1A-D8C1-4AEE-978F-B2A89C6B3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sz="2400" b="1" dirty="0">
                <a:latin typeface="Book Antiqua" panose="02040602050305030304" pitchFamily="18" charset="0"/>
              </a:rPr>
              <a:t>Scop</a:t>
            </a:r>
          </a:p>
          <a:p>
            <a:pPr marL="0" indent="0">
              <a:buNone/>
            </a:pPr>
            <a:r>
              <a:rPr lang="ro-RO" sz="2000" dirty="0">
                <a:latin typeface="Book Antiqua" panose="02040602050305030304" pitchFamily="18" charset="0"/>
              </a:rPr>
              <a:t>Sistemul are ca scop principal recomandarea de cărți cititorilor. Sistemul de recomandare utilizează </a:t>
            </a:r>
            <a:r>
              <a:rPr lang="ro-RO" sz="2000" b="1" dirty="0">
                <a:latin typeface="Book Antiqua" panose="02040602050305030304" pitchFamily="18" charset="0"/>
              </a:rPr>
              <a:t>filtrare </a:t>
            </a:r>
            <a:r>
              <a:rPr lang="ro-RO" sz="2000" b="1" dirty="0" err="1">
                <a:latin typeface="Book Antiqua" panose="02040602050305030304" pitchFamily="18" charset="0"/>
              </a:rPr>
              <a:t>colaborativă</a:t>
            </a:r>
            <a:r>
              <a:rPr lang="ro-RO" sz="2000" b="1" dirty="0">
                <a:latin typeface="Book Antiqua" panose="02040602050305030304" pitchFamily="18" charset="0"/>
              </a:rPr>
              <a:t> bazată pe articol(engl. item-</a:t>
            </a:r>
            <a:r>
              <a:rPr lang="ro-RO" sz="2000" b="1" dirty="0" err="1">
                <a:latin typeface="Book Antiqua" panose="02040602050305030304" pitchFamily="18" charset="0"/>
              </a:rPr>
              <a:t>based</a:t>
            </a:r>
            <a:r>
              <a:rPr lang="ro-RO" sz="2000" b="1" dirty="0">
                <a:latin typeface="Book Antiqua" panose="02040602050305030304" pitchFamily="18" charset="0"/>
              </a:rPr>
              <a:t> </a:t>
            </a:r>
            <a:r>
              <a:rPr lang="ro-RO" sz="2000" b="1" dirty="0" err="1">
                <a:latin typeface="Book Antiqua" panose="02040602050305030304" pitchFamily="18" charset="0"/>
              </a:rPr>
              <a:t>collaborative</a:t>
            </a:r>
            <a:r>
              <a:rPr lang="ro-RO" sz="2000" b="1" dirty="0">
                <a:latin typeface="Book Antiqua" panose="02040602050305030304" pitchFamily="18" charset="0"/>
              </a:rPr>
              <a:t> </a:t>
            </a:r>
            <a:r>
              <a:rPr lang="ro-RO" sz="2000" b="1" dirty="0" err="1">
                <a:latin typeface="Book Antiqua" panose="02040602050305030304" pitchFamily="18" charset="0"/>
              </a:rPr>
              <a:t>filtering</a:t>
            </a:r>
            <a:r>
              <a:rPr lang="ro-RO" sz="2000" b="1" dirty="0">
                <a:latin typeface="Book Antiqua" panose="02040602050305030304" pitchFamily="18" charset="0"/>
              </a:rPr>
              <a:t>)</a:t>
            </a:r>
            <a:r>
              <a:rPr lang="ro-RO" sz="2000" dirty="0">
                <a:latin typeface="Book Antiqua" panose="02040602050305030304" pitchFamily="18" charset="0"/>
              </a:rPr>
              <a:t>, calculând similaritatea dintre cărți pe baza ratingurilor cititorilor.</a:t>
            </a:r>
            <a:br>
              <a:rPr lang="ro-RO" sz="2000" dirty="0">
                <a:latin typeface="Book Antiqua" panose="02040602050305030304" pitchFamily="18" charset="0"/>
              </a:rPr>
            </a:br>
            <a:r>
              <a:rPr lang="ro-RO" sz="2000" dirty="0">
                <a:latin typeface="Book Antiqua" panose="02040602050305030304" pitchFamily="18" charset="0"/>
              </a:rPr>
              <a:t>Pe baza acestor similarități, sunt generate recomandări personalizate sub forma unui top 5 de cărți pentru fiecare cititor.</a:t>
            </a:r>
          </a:p>
          <a:p>
            <a:pPr marL="0" indent="0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ro-RO" sz="2400" b="1" dirty="0">
                <a:latin typeface="Book Antiqua" panose="02040602050305030304" pitchFamily="18" charset="0"/>
              </a:rPr>
              <a:t>Principiul de bază pentru filtrarea </a:t>
            </a:r>
            <a:r>
              <a:rPr lang="ro-RO" sz="2400" b="1" dirty="0" err="1">
                <a:latin typeface="Book Antiqua" panose="02040602050305030304" pitchFamily="18" charset="0"/>
              </a:rPr>
              <a:t>colaborativă</a:t>
            </a:r>
            <a:r>
              <a:rPr lang="ro-RO" sz="2400" b="1" dirty="0">
                <a:latin typeface="Book Antiqua" panose="02040602050305030304" pitchFamily="18" charset="0"/>
              </a:rPr>
              <a:t> bazată pe articol</a:t>
            </a:r>
          </a:p>
          <a:p>
            <a:pPr marL="0" indent="0">
              <a:buNone/>
            </a:pPr>
            <a:r>
              <a:rPr lang="ro-RO" sz="2000" dirty="0">
                <a:latin typeface="Book Antiqua" panose="02040602050305030304" pitchFamily="18" charset="0"/>
              </a:rPr>
              <a:t>Algoritmul funcționează pe premisa că unui utilizator i se va recomanda un articol nou (o carte, un film) dacă acel articol este similar cu articolele pe care utilizatorul le-a apreciat în trecut.</a:t>
            </a:r>
          </a:p>
          <a:p>
            <a:pPr marL="0" indent="0">
              <a:buNone/>
            </a:pPr>
            <a:r>
              <a:rPr lang="ro-RO" sz="2000" dirty="0">
                <a:latin typeface="Book Antiqua" panose="02040602050305030304" pitchFamily="18" charset="0"/>
              </a:rPr>
              <a:t>Spre deosebire de filtrarea bazată pe utilizator (care găsește oameni cu gusturi similare), filtrarea bazată pe articol se concentrează pe </a:t>
            </a:r>
            <a:r>
              <a:rPr lang="ro-RO" sz="2000" b="1" dirty="0">
                <a:latin typeface="Book Antiqua" panose="02040602050305030304" pitchFamily="18" charset="0"/>
              </a:rPr>
              <a:t>similaritatea dintre articole.</a:t>
            </a:r>
          </a:p>
        </p:txBody>
      </p:sp>
    </p:spTree>
    <p:extLst>
      <p:ext uri="{BB962C8B-B14F-4D97-AF65-F5344CB8AC3E}">
        <p14:creationId xmlns:p14="http://schemas.microsoft.com/office/powerpoint/2010/main" val="1742947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9B049B4-1B7B-416D-8358-5A7C3BEF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Pașii filtrării </a:t>
            </a:r>
            <a:r>
              <a:rPr lang="ro-RO" sz="3200" b="1" dirty="0" err="1">
                <a:latin typeface="Book Antiqua" panose="02040602050305030304" pitchFamily="18" charset="0"/>
              </a:rPr>
              <a:t>colaborative</a:t>
            </a:r>
            <a:r>
              <a:rPr lang="ro-RO" sz="3200" b="1" dirty="0">
                <a:latin typeface="Book Antiqua" panose="02040602050305030304" pitchFamily="18" charset="0"/>
              </a:rPr>
              <a:t> bazate pe articol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6A6D5B8-DAAA-42D3-BE27-B4F2B5389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b="1" dirty="0">
                <a:latin typeface="Book Antiqua" panose="02040602050305030304" pitchFamily="18" charset="0"/>
              </a:rPr>
              <a:t>1.Colectarea datelor</a:t>
            </a:r>
          </a:p>
          <a:p>
            <a:pPr marL="0" indent="0">
              <a:buNone/>
            </a:pPr>
            <a:r>
              <a:rPr lang="ro-RO" sz="2000" b="1" dirty="0">
                <a:latin typeface="Book Antiqua" panose="02040602050305030304" pitchFamily="18" charset="0"/>
              </a:rPr>
              <a:t>2.Construirea matricei utilizator-articol</a:t>
            </a:r>
          </a:p>
          <a:p>
            <a:pPr marL="0" indent="0">
              <a:buNone/>
            </a:pPr>
            <a:r>
              <a:rPr lang="ro-RO" sz="2000" b="1" dirty="0">
                <a:latin typeface="Book Antiqua" panose="02040602050305030304" pitchFamily="18" charset="0"/>
              </a:rPr>
              <a:t>3.Calculul similarității între articole</a:t>
            </a:r>
          </a:p>
          <a:p>
            <a:pPr marL="0" indent="0">
              <a:buNone/>
            </a:pPr>
            <a:r>
              <a:rPr lang="ro-RO" sz="2000" b="1" dirty="0">
                <a:latin typeface="Book Antiqua" panose="02040602050305030304" pitchFamily="18" charset="0"/>
              </a:rPr>
              <a:t>4.Identificarea articolelor similare</a:t>
            </a:r>
          </a:p>
          <a:p>
            <a:pPr marL="0" indent="0">
              <a:buNone/>
            </a:pPr>
            <a:r>
              <a:rPr lang="ro-RO" sz="2000" b="1" dirty="0">
                <a:latin typeface="Book Antiqua" panose="02040602050305030304" pitchFamily="18" charset="0"/>
              </a:rPr>
              <a:t>5.Generarea top-n recomandări</a:t>
            </a:r>
          </a:p>
        </p:txBody>
      </p:sp>
    </p:spTree>
    <p:extLst>
      <p:ext uri="{BB962C8B-B14F-4D97-AF65-F5344CB8AC3E}">
        <p14:creationId xmlns:p14="http://schemas.microsoft.com/office/powerpoint/2010/main" val="2059511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3ADE999-A689-4AF3-B6FA-6A88F962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1.Colectarea datelor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2D1FFBF-D93A-4786-9D83-F2A41E646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sz="1800" dirty="0">
                <a:latin typeface="Book Antiqua" panose="02040602050305030304" pitchFamily="18" charset="0"/>
              </a:rPr>
              <a:t>Această etapă implică încărcarea datelor brute în mediul de lucru.</a:t>
            </a:r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sz="1800" dirty="0">
                <a:latin typeface="Book Antiqua" panose="02040602050305030304" pitchFamily="18" charset="0"/>
              </a:rPr>
              <a:t>Ulterior datele brute sunt preprocesate, mai exact se selectează doar acele cărți care au primit minim 50 de ratinguri și acei cititori care au lăsat minim 50 de ratinguri.</a:t>
            </a:r>
          </a:p>
          <a:p>
            <a:pPr marL="0" indent="0">
              <a:buNone/>
            </a:pPr>
            <a:endParaRPr lang="ro-RO" sz="18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ro-RO" dirty="0"/>
              <a:t>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575E7D5-535F-448E-B609-BAA523F0A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39216"/>
            <a:ext cx="5257800" cy="1762078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01857A8E-92A6-47FC-859D-57C43FAB8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52" y="4673268"/>
            <a:ext cx="6055581" cy="119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2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8FCDE77-75BE-45D2-870C-5105AF05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 err="1">
                <a:latin typeface="Book Antiqua" panose="02040602050305030304" pitchFamily="18" charset="0"/>
              </a:rPr>
              <a:t>Dataset</a:t>
            </a:r>
            <a:endParaRPr lang="ro-RO" sz="3200" b="1" dirty="0">
              <a:latin typeface="Book Antiqua" panose="02040602050305030304" pitchFamily="18" charset="0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6B168D9-5291-4D34-9F20-CCFE5FA7C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>
                <a:latin typeface="Book Antiqua" panose="02040602050305030304" pitchFamily="18" charset="0"/>
              </a:rPr>
              <a:t>Sursă </a:t>
            </a:r>
            <a:r>
              <a:rPr lang="ro-RO" sz="2000" dirty="0" err="1">
                <a:latin typeface="Book Antiqua" panose="02040602050305030304" pitchFamily="18" charset="0"/>
              </a:rPr>
              <a:t>dataset</a:t>
            </a:r>
            <a:r>
              <a:rPr lang="ro-RO" sz="2000" dirty="0">
                <a:latin typeface="Book Antiqua" panose="02040602050305030304" pitchFamily="18" charset="0"/>
              </a:rPr>
              <a:t>: </a:t>
            </a:r>
            <a:r>
              <a:rPr lang="ro-RO" sz="2000" b="1" dirty="0" err="1">
                <a:latin typeface="Book Antiqua" panose="02040602050305030304" pitchFamily="18" charset="0"/>
              </a:rPr>
              <a:t>Kaggle</a:t>
            </a:r>
            <a:r>
              <a:rPr lang="ro-RO" sz="2000" b="1" dirty="0">
                <a:latin typeface="Book Antiqua" panose="02040602050305030304" pitchFamily="18" charset="0"/>
              </a:rPr>
              <a:t> </a:t>
            </a:r>
            <a:r>
              <a:rPr lang="ro-RO" sz="1800" dirty="0">
                <a:latin typeface="Book Antiqua" panose="02040602050305030304" pitchFamily="18" charset="0"/>
                <a:hlinkClick r:id="rId2"/>
              </a:rPr>
              <a:t>https://www.kaggle.com/datasets/syedjaferk/book-crossing-dataset</a:t>
            </a:r>
            <a:endParaRPr lang="ro-RO" sz="18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ro-RO" sz="2000" dirty="0">
                <a:latin typeface="Book Antiqua" panose="02040602050305030304" pitchFamily="18" charset="0"/>
              </a:rPr>
              <a:t>BX-Book-Ratings.csv- acest fișier oferă informații despre ratingurile lăsate de cititori cărților</a:t>
            </a:r>
          </a:p>
          <a:p>
            <a:pPr marL="0" indent="0">
              <a:buNone/>
            </a:pPr>
            <a:endParaRPr lang="ro-RO" sz="24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ro-RO" sz="24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ro-RO" sz="2000" dirty="0">
                <a:latin typeface="Book Antiqua" panose="02040602050305030304" pitchFamily="18" charset="0"/>
              </a:rPr>
              <a:t>BX-Books.csv-acest </a:t>
            </a:r>
            <a:r>
              <a:rPr lang="ro-RO" sz="2000" dirty="0" err="1">
                <a:latin typeface="Book Antiqua" panose="02040602050305030304" pitchFamily="18" charset="0"/>
              </a:rPr>
              <a:t>fisier</a:t>
            </a:r>
            <a:r>
              <a:rPr lang="ro-RO" sz="2000" dirty="0">
                <a:latin typeface="Book Antiqua" panose="02040602050305030304" pitchFamily="18" charset="0"/>
              </a:rPr>
              <a:t> oferă informații despre cărțile citite de cititori</a:t>
            </a:r>
          </a:p>
          <a:p>
            <a:pPr marL="0" indent="0">
              <a:buNone/>
            </a:pPr>
            <a:endParaRPr lang="ro-RO" sz="2400" dirty="0">
              <a:latin typeface="Book Antiqua" panose="02040602050305030304" pitchFamily="18" charset="0"/>
            </a:endParaRP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AEDFED0E-6E7C-4F66-9A38-5165E75FC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4505423"/>
            <a:ext cx="10199023" cy="1569608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8DFF9FA5-A520-4DD1-9DB8-28CCF5B382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77" y="2584465"/>
            <a:ext cx="1912952" cy="116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42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07688F1-AEA9-481C-AF9E-849E3BC5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0938"/>
          </a:xfrm>
        </p:spPr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2.Construirea matricei utilizator-articol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C3261D0-9E47-409A-B026-2F273E6B9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838"/>
            <a:ext cx="10515600" cy="51351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o-RO" sz="2000" dirty="0">
                <a:latin typeface="Book Antiqua" panose="02040602050305030304" pitchFamily="18" charset="0"/>
              </a:rPr>
              <a:t>Matricea utilizator–articol(</a:t>
            </a:r>
            <a:r>
              <a:rPr lang="ro-RO" sz="2000" dirty="0" err="1">
                <a:latin typeface="Book Antiqua" panose="02040602050305030304" pitchFamily="18" charset="0"/>
              </a:rPr>
              <a:t>user</a:t>
            </a:r>
            <a:r>
              <a:rPr lang="ro-RO" sz="2000" dirty="0">
                <a:latin typeface="Book Antiqua" panose="02040602050305030304" pitchFamily="18" charset="0"/>
              </a:rPr>
              <a:t>-item </a:t>
            </a:r>
            <a:r>
              <a:rPr lang="ro-RO" sz="2000" dirty="0" err="1">
                <a:latin typeface="Book Antiqua" panose="02040602050305030304" pitchFamily="18" charset="0"/>
              </a:rPr>
              <a:t>matrix</a:t>
            </a:r>
            <a:r>
              <a:rPr lang="ro-RO" sz="2000" dirty="0">
                <a:latin typeface="Book Antiqua" panose="02040602050305030304" pitchFamily="18" charset="0"/>
              </a:rPr>
              <a:t>) sau matricea pivot(pivot </a:t>
            </a:r>
            <a:r>
              <a:rPr lang="ro-RO" sz="2000" dirty="0" err="1">
                <a:latin typeface="Book Antiqua" panose="02040602050305030304" pitchFamily="18" charset="0"/>
              </a:rPr>
              <a:t>matrix</a:t>
            </a:r>
            <a:r>
              <a:rPr lang="ro-RO" sz="2000" dirty="0">
                <a:latin typeface="Book Antiqua" panose="02040602050305030304" pitchFamily="18" charset="0"/>
              </a:rPr>
              <a:t>) este o reprezentare tabelară a interacțiunilor dintre utilizatori și cărți, fiind baza sistemului de recomandare bazat pe filtrare </a:t>
            </a:r>
            <a:r>
              <a:rPr lang="ro-RO" sz="2000" dirty="0" err="1">
                <a:latin typeface="Book Antiqua" panose="02040602050305030304" pitchFamily="18" charset="0"/>
              </a:rPr>
              <a:t>colaborativă</a:t>
            </a:r>
            <a:r>
              <a:rPr lang="ro-RO" sz="2000" dirty="0">
                <a:latin typeface="Book Antiqua" panose="0204060205030503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o-RO" sz="2000" dirty="0">
                <a:latin typeface="Book Antiqua" panose="02040602050305030304" pitchFamily="18" charset="0"/>
              </a:rPr>
              <a:t>Rândurile matricei reprezintă </a:t>
            </a:r>
            <a:r>
              <a:rPr lang="ro-RO" sz="2000" dirty="0" err="1">
                <a:latin typeface="Book Antiqua" panose="02040602050305030304" pitchFamily="18" charset="0"/>
              </a:rPr>
              <a:t>utilizatorii,coloanele</a:t>
            </a:r>
            <a:r>
              <a:rPr lang="ro-RO" sz="2000" dirty="0">
                <a:latin typeface="Book Antiqua" panose="02040602050305030304" pitchFamily="18" charset="0"/>
              </a:rPr>
              <a:t> matricei reprezintă articolele(cărțile) iar valorile elementelor matricei reprezintă ratingurile lăsate de utilizatori cărților.</a:t>
            </a:r>
          </a:p>
          <a:p>
            <a:pPr marL="0" indent="0" algn="just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ro-RO" sz="2000" dirty="0">
                <a:latin typeface="Book Antiqua" panose="02040602050305030304" pitchFamily="18" charset="0"/>
              </a:rPr>
              <a:t>Această matrice nu este folosită direct în </a:t>
            </a:r>
            <a:r>
              <a:rPr lang="ro-RO" sz="2000" dirty="0" err="1">
                <a:latin typeface="Book Antiqua" panose="02040602050305030304" pitchFamily="18" charset="0"/>
              </a:rPr>
              <a:t>recomandare,aceasta</a:t>
            </a:r>
            <a:r>
              <a:rPr lang="ro-RO" sz="2000" dirty="0">
                <a:latin typeface="Book Antiqua" panose="02040602050305030304" pitchFamily="18" charset="0"/>
              </a:rPr>
              <a:t> ne va ajuta ulterior pentru calculul similarității între articole.</a:t>
            </a:r>
          </a:p>
          <a:p>
            <a:pPr marL="0" indent="0" algn="just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dirty="0">
              <a:latin typeface="Book Antiqua" panose="02040602050305030304" pitchFamily="18" charset="0"/>
            </a:endParaRPr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893E9CF2-726A-4308-B0E2-DFEBDD299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18075"/>
              </p:ext>
            </p:extLst>
          </p:nvPr>
        </p:nvGraphicFramePr>
        <p:xfrm>
          <a:off x="2252428" y="2671665"/>
          <a:ext cx="7687143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1169805733"/>
                    </a:ext>
                  </a:extLst>
                </a:gridCol>
                <a:gridCol w="1559595">
                  <a:extLst>
                    <a:ext uri="{9D8B030D-6E8A-4147-A177-3AD203B41FA5}">
                      <a16:colId xmlns:a16="http://schemas.microsoft.com/office/drawing/2014/main" val="1890229149"/>
                    </a:ext>
                  </a:extLst>
                </a:gridCol>
                <a:gridCol w="1554836">
                  <a:extLst>
                    <a:ext uri="{9D8B030D-6E8A-4147-A177-3AD203B41FA5}">
                      <a16:colId xmlns:a16="http://schemas.microsoft.com/office/drawing/2014/main" val="4215502554"/>
                    </a:ext>
                  </a:extLst>
                </a:gridCol>
                <a:gridCol w="1554836">
                  <a:extLst>
                    <a:ext uri="{9D8B030D-6E8A-4147-A177-3AD203B41FA5}">
                      <a16:colId xmlns:a16="http://schemas.microsoft.com/office/drawing/2014/main" val="1881061672"/>
                    </a:ext>
                  </a:extLst>
                </a:gridCol>
                <a:gridCol w="1554836">
                  <a:extLst>
                    <a:ext uri="{9D8B030D-6E8A-4147-A177-3AD203B41FA5}">
                      <a16:colId xmlns:a16="http://schemas.microsoft.com/office/drawing/2014/main" val="2466098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   Book1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Book2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Book3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Book4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728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User1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720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User2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050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User3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278972"/>
                  </a:ext>
                </a:extLst>
              </a:tr>
            </a:tbl>
          </a:graphicData>
        </a:graphic>
      </p:graphicFrame>
      <p:pic>
        <p:nvPicPr>
          <p:cNvPr id="7" name="Imagine 6">
            <a:extLst>
              <a:ext uri="{FF2B5EF4-FFF2-40B4-BE49-F238E27FC236}">
                <a16:creationId xmlns:a16="http://schemas.microsoft.com/office/drawing/2014/main" id="{6D3B921F-9FD9-4B29-9EF4-FAA5D1896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48952"/>
            <a:ext cx="6754168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18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A99C501-C71F-469D-8104-F8855C87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3.Calculul similarității între articole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F22A5C8-B9FF-4E17-AC0C-ADA8A920A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o-RO" sz="2000" dirty="0">
                <a:latin typeface="Book Antiqua" panose="02040602050305030304" pitchFamily="18" charset="0"/>
              </a:rPr>
              <a:t>Pentru fiecare pereche de cărți se calculează cât de similare sunt, pe baza rating-urilor primite de la utilizatori </a:t>
            </a:r>
            <a:r>
              <a:rPr lang="ro-RO" sz="2000" dirty="0" err="1">
                <a:latin typeface="Book Antiqua" panose="02040602050305030304" pitchFamily="18" charset="0"/>
              </a:rPr>
              <a:t>comuni.Acest</a:t>
            </a:r>
            <a:r>
              <a:rPr lang="ro-RO" sz="2000" dirty="0">
                <a:latin typeface="Book Antiqua" panose="02040602050305030304" pitchFamily="18" charset="0"/>
              </a:rPr>
              <a:t> lucru se realizează cu ajutorul algoritmului </a:t>
            </a:r>
            <a:r>
              <a:rPr lang="ro-RO" sz="2000" b="1" dirty="0" err="1">
                <a:latin typeface="Book Antiqua" panose="02040602050305030304" pitchFamily="18" charset="0"/>
              </a:rPr>
              <a:t>cosine</a:t>
            </a:r>
            <a:r>
              <a:rPr lang="ro-RO" sz="2000" b="1" dirty="0">
                <a:latin typeface="Book Antiqua" panose="02040602050305030304" pitchFamily="18" charset="0"/>
              </a:rPr>
              <a:t> </a:t>
            </a:r>
            <a:r>
              <a:rPr lang="ro-RO" sz="2000" b="1" dirty="0" err="1">
                <a:latin typeface="Book Antiqua" panose="02040602050305030304" pitchFamily="18" charset="0"/>
              </a:rPr>
              <a:t>similarity</a:t>
            </a:r>
            <a:r>
              <a:rPr lang="ro-RO" sz="2000" b="1" dirty="0">
                <a:latin typeface="Book Antiqua" panose="02040602050305030304" pitchFamily="18" charset="0"/>
              </a:rPr>
              <a:t>.</a:t>
            </a:r>
          </a:p>
          <a:p>
            <a:pPr marL="0" indent="0" algn="just">
              <a:buNone/>
            </a:pPr>
            <a:endParaRPr lang="ro-RO" sz="2000" b="1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b="1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b="1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b="1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b="1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b="1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b="1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ro-RO" sz="2000" b="1" dirty="0">
              <a:latin typeface="Book Antiqua" panose="02040602050305030304" pitchFamily="18" charset="0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2444DF1-A9BA-496D-A325-F3ED418C7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363" y="2828100"/>
            <a:ext cx="4521255" cy="2346387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85C3E70F-9FA6-4662-9387-34E711788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309424"/>
            <a:ext cx="4086795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19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AC7AD89-E478-4C6D-96C3-390EEE67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4.Identificarea articolelor similare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CF31B99-BC7A-4A21-A616-71E446358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>
                <a:latin typeface="Book Antiqua" panose="02040602050305030304" pitchFamily="18" charset="0"/>
              </a:rPr>
              <a:t>Pentru fiecare carte, se selectează cele mai similare alte cărți</a:t>
            </a:r>
            <a:r>
              <a:rPr lang="ro-RO" sz="2000" dirty="0">
                <a:latin typeface="Book Antiqua" panose="02040602050305030304" pitchFamily="18" charset="0"/>
              </a:rPr>
              <a:t>.Această etapă se realizează în interiorul funcției </a:t>
            </a:r>
            <a:r>
              <a:rPr lang="ro-RO" sz="2000" b="1" dirty="0" err="1">
                <a:latin typeface="Book Antiqua" panose="02040602050305030304" pitchFamily="18" charset="0"/>
              </a:rPr>
              <a:t>recommend_book</a:t>
            </a:r>
            <a:r>
              <a:rPr lang="ro-RO" sz="2000" b="1" dirty="0">
                <a:latin typeface="Book Antiqua" panose="02040602050305030304" pitchFamily="18" charset="0"/>
              </a:rPr>
              <a:t> </a:t>
            </a:r>
            <a:r>
              <a:rPr lang="ro-RO" sz="2000" dirty="0">
                <a:latin typeface="Book Antiqua" panose="02040602050305030304" pitchFamily="18" charset="0"/>
              </a:rPr>
              <a:t>imediat ce este selectată o carte.</a:t>
            </a:r>
          </a:p>
          <a:p>
            <a:pPr marL="0" indent="0">
              <a:buNone/>
            </a:pPr>
            <a:endParaRPr lang="ro-RO" sz="20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ro-RO" sz="2000" dirty="0">
              <a:latin typeface="Book Antiqua" panose="02040602050305030304" pitchFamily="18" charset="0"/>
            </a:endParaRP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23E6029D-FE29-4C54-86C9-446F623A4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97617"/>
            <a:ext cx="7373906" cy="294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27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7FCDC41-EA0A-46A5-8849-2808B3877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3200" b="1" dirty="0">
                <a:latin typeface="Book Antiqua" panose="02040602050305030304" pitchFamily="18" charset="0"/>
              </a:rPr>
              <a:t>5.Generarea top-n recomandări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A32D6FA-F177-4D82-89FE-7E9AA3EF2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>
                <a:latin typeface="Book Antiqua" panose="02040602050305030304" pitchFamily="18" charset="0"/>
              </a:rPr>
              <a:t>Această etapă se reduce la selectarea acelor cărți cu un scor foarte bun de similaritate.</a:t>
            </a:r>
          </a:p>
          <a:p>
            <a:pPr marL="0" indent="0">
              <a:buNone/>
            </a:pPr>
            <a:endParaRPr lang="ro-RO" sz="2000" dirty="0">
              <a:latin typeface="Book Antiqua" panose="02040602050305030304" pitchFamily="18" charset="0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EE37431B-D288-4127-9677-A2126F94F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24199"/>
            <a:ext cx="8900926" cy="355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12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14B631E-57D6-41DC-8990-902BCB0B8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066167" cy="1021743"/>
          </a:xfrm>
        </p:spPr>
        <p:txBody>
          <a:bodyPr>
            <a:normAutofit/>
          </a:bodyPr>
          <a:lstStyle/>
          <a:p>
            <a:r>
              <a:rPr lang="ro-RO" b="1" dirty="0">
                <a:latin typeface="Book Antiqua" panose="02040602050305030304" pitchFamily="18" charset="0"/>
              </a:rPr>
              <a:t>Structura proiectului</a:t>
            </a:r>
          </a:p>
        </p:txBody>
      </p:sp>
      <p:pic>
        <p:nvPicPr>
          <p:cNvPr id="6" name="Substituent imagine 5">
            <a:extLst>
              <a:ext uri="{FF2B5EF4-FFF2-40B4-BE49-F238E27FC236}">
                <a16:creationId xmlns:a16="http://schemas.microsoft.com/office/drawing/2014/main" id="{DB5C1117-2E00-49BA-82F7-3964B9A1B79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76" b="7376"/>
          <a:stretch>
            <a:fillRect/>
          </a:stretch>
        </p:blipFill>
        <p:spPr>
          <a:xfrm>
            <a:off x="6096000" y="1478943"/>
            <a:ext cx="4652576" cy="3673716"/>
          </a:xfrm>
        </p:spPr>
      </p:pic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EA1D9F6C-E4DA-4C2D-B718-41C93A87D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020323" cy="3811588"/>
          </a:xfrm>
        </p:spPr>
        <p:txBody>
          <a:bodyPr>
            <a:normAutofit/>
          </a:bodyPr>
          <a:lstStyle/>
          <a:p>
            <a:pPr algn="just"/>
            <a:r>
              <a:rPr lang="ro-RO" sz="1400" dirty="0">
                <a:latin typeface="Book Antiqua" panose="02040602050305030304" pitchFamily="18" charset="0"/>
              </a:rPr>
              <a:t>app.py – fișierul principal de execuție </a:t>
            </a:r>
            <a:r>
              <a:rPr lang="ro-RO" sz="1400" dirty="0" err="1">
                <a:latin typeface="Book Antiqua" panose="02040602050305030304" pitchFamily="18" charset="0"/>
              </a:rPr>
              <a:t>Flask</a:t>
            </a:r>
            <a:r>
              <a:rPr lang="ro-RO" sz="1400" dirty="0">
                <a:latin typeface="Book Antiqua" panose="02040602050305030304" pitchFamily="18" charset="0"/>
              </a:rPr>
              <a:t> care definește rutele și leagă modelul de recomandare de interfață</a:t>
            </a:r>
          </a:p>
          <a:p>
            <a:pPr algn="just"/>
            <a:r>
              <a:rPr lang="ro-RO" sz="1400" dirty="0">
                <a:latin typeface="Book Antiqua" panose="02040602050305030304" pitchFamily="18" charset="0"/>
              </a:rPr>
              <a:t>data – conține seturile de date brute de intrare </a:t>
            </a:r>
            <a:r>
              <a:rPr lang="ro-RO" sz="1400" b="1" dirty="0">
                <a:latin typeface="Book Antiqua" panose="02040602050305030304" pitchFamily="18" charset="0"/>
              </a:rPr>
              <a:t>BX-Books.csv </a:t>
            </a:r>
          </a:p>
          <a:p>
            <a:pPr algn="just"/>
            <a:r>
              <a:rPr lang="ro-RO" sz="1400" b="1" dirty="0">
                <a:latin typeface="Book Antiqua" panose="02040602050305030304" pitchFamily="18" charset="0"/>
              </a:rPr>
              <a:t>BX-Book-Ratings.csv </a:t>
            </a:r>
            <a:r>
              <a:rPr lang="ro-RO" sz="1400" dirty="0">
                <a:latin typeface="Book Antiqua" panose="02040602050305030304" pitchFamily="18" charset="0"/>
              </a:rPr>
              <a:t>și folosite pentru antrenarea modelului</a:t>
            </a:r>
          </a:p>
          <a:p>
            <a:pPr algn="just"/>
            <a:r>
              <a:rPr lang="ro-RO" sz="1400" dirty="0" err="1">
                <a:latin typeface="Book Antiqua" panose="02040602050305030304" pitchFamily="18" charset="0"/>
              </a:rPr>
              <a:t>models</a:t>
            </a:r>
            <a:r>
              <a:rPr lang="ro-RO" sz="1400" dirty="0">
                <a:latin typeface="Book Antiqua" panose="02040602050305030304" pitchFamily="18" charset="0"/>
              </a:rPr>
              <a:t> – conține modelul de recomandare</a:t>
            </a:r>
          </a:p>
          <a:p>
            <a:pPr algn="just"/>
            <a:r>
              <a:rPr lang="ro-RO" sz="1400" dirty="0" err="1">
                <a:latin typeface="Book Antiqua" panose="02040602050305030304" pitchFamily="18" charset="0"/>
              </a:rPr>
              <a:t>templates</a:t>
            </a:r>
            <a:r>
              <a:rPr lang="ro-RO" sz="1400" dirty="0">
                <a:latin typeface="Book Antiqua" panose="02040602050305030304" pitchFamily="18" charset="0"/>
              </a:rPr>
              <a:t> – conține interfața web a aplicației</a:t>
            </a:r>
          </a:p>
          <a:p>
            <a:pPr algn="just"/>
            <a:r>
              <a:rPr lang="ro-RO" sz="1400" dirty="0">
                <a:latin typeface="Book Antiqua" panose="02040602050305030304" pitchFamily="18" charset="0"/>
              </a:rPr>
              <a:t>.</a:t>
            </a:r>
            <a:r>
              <a:rPr lang="ro-RO" sz="1400" dirty="0" err="1">
                <a:latin typeface="Book Antiqua" panose="02040602050305030304" pitchFamily="18" charset="0"/>
              </a:rPr>
              <a:t>venv</a:t>
            </a:r>
            <a:r>
              <a:rPr lang="ro-RO" sz="1400" dirty="0">
                <a:latin typeface="Book Antiqua" panose="02040602050305030304" pitchFamily="18" charset="0"/>
              </a:rPr>
              <a:t> – mediul virtual </a:t>
            </a:r>
            <a:r>
              <a:rPr lang="ro-RO" sz="1400" dirty="0" err="1">
                <a:latin typeface="Book Antiqua" panose="02040602050305030304" pitchFamily="18" charset="0"/>
              </a:rPr>
              <a:t>python</a:t>
            </a:r>
            <a:r>
              <a:rPr lang="ro-RO" sz="1400" dirty="0">
                <a:latin typeface="Book Antiqua" panose="02040602050305030304" pitchFamily="18" charset="0"/>
              </a:rPr>
              <a:t> care conține dependențele necesare proiectului ( </a:t>
            </a:r>
            <a:r>
              <a:rPr lang="ro-RO" sz="1400" dirty="0" err="1">
                <a:latin typeface="Book Antiqua" panose="02040602050305030304" pitchFamily="18" charset="0"/>
              </a:rPr>
              <a:t>flask</a:t>
            </a:r>
            <a:r>
              <a:rPr lang="ro-RO" sz="1400" dirty="0">
                <a:latin typeface="Book Antiqua" panose="02040602050305030304" pitchFamily="18" charset="0"/>
              </a:rPr>
              <a:t>, </a:t>
            </a:r>
            <a:r>
              <a:rPr lang="ro-RO" sz="1400" dirty="0" err="1">
                <a:latin typeface="Book Antiqua" panose="02040602050305030304" pitchFamily="18" charset="0"/>
              </a:rPr>
              <a:t>scikit-learn</a:t>
            </a:r>
            <a:r>
              <a:rPr lang="ro-RO" sz="1400" dirty="0">
                <a:latin typeface="Book Antiqua" panose="02040602050305030304" pitchFamily="18" charset="0"/>
              </a:rPr>
              <a:t>, </a:t>
            </a:r>
            <a:r>
              <a:rPr lang="ro-RO" sz="1400" dirty="0" err="1">
                <a:latin typeface="Book Antiqua" panose="02040602050305030304" pitchFamily="18" charset="0"/>
              </a:rPr>
              <a:t>pandas</a:t>
            </a:r>
            <a:r>
              <a:rPr lang="ro-RO" sz="1400" dirty="0">
                <a:latin typeface="Book Antiqua" panose="02040602050305030304" pitchFamily="18" charset="0"/>
              </a:rPr>
              <a:t>, </a:t>
            </a:r>
            <a:r>
              <a:rPr lang="ro-RO" sz="1400" dirty="0" err="1">
                <a:latin typeface="Book Antiqua" panose="02040602050305030304" pitchFamily="18" charset="0"/>
              </a:rPr>
              <a:t>numpy</a:t>
            </a:r>
            <a:r>
              <a:rPr lang="ro-RO" sz="1400" dirty="0">
                <a:latin typeface="Book Antiqua" panose="02040602050305030304" pitchFamily="18" charset="0"/>
              </a:rPr>
              <a:t>)</a:t>
            </a:r>
          </a:p>
          <a:p>
            <a:pPr algn="just"/>
            <a:r>
              <a:rPr lang="ro-RO" sz="1400" b="1" dirty="0">
                <a:latin typeface="Book Antiqua" panose="02040602050305030304" pitchFamily="18" charset="0"/>
              </a:rPr>
              <a:t>Tehnologii folosite</a:t>
            </a:r>
          </a:p>
          <a:p>
            <a:pPr marL="0" indent="0">
              <a:buNone/>
            </a:pPr>
            <a:r>
              <a:rPr lang="ro-RO" sz="1400" dirty="0" err="1">
                <a:latin typeface="Book Antiqua" panose="02040602050305030304" pitchFamily="18" charset="0"/>
              </a:rPr>
              <a:t>frontend</a:t>
            </a:r>
            <a:r>
              <a:rPr lang="ro-RO" sz="1400" dirty="0">
                <a:latin typeface="Book Antiqua" panose="02040602050305030304" pitchFamily="18" charset="0"/>
              </a:rPr>
              <a:t>: </a:t>
            </a:r>
            <a:r>
              <a:rPr lang="ro-RO" sz="1400" dirty="0" err="1">
                <a:latin typeface="Book Antiqua" panose="02040602050305030304" pitchFamily="18" charset="0"/>
              </a:rPr>
              <a:t>html</a:t>
            </a:r>
            <a:r>
              <a:rPr lang="ro-RO" sz="1400" dirty="0">
                <a:latin typeface="Book Antiqua" panose="02040602050305030304" pitchFamily="18" charset="0"/>
              </a:rPr>
              <a:t> + </a:t>
            </a:r>
            <a:r>
              <a:rPr lang="ro-RO" sz="1400" dirty="0" err="1">
                <a:latin typeface="Book Antiqua" panose="02040602050305030304" pitchFamily="18" charset="0"/>
              </a:rPr>
              <a:t>bootstrap</a:t>
            </a:r>
            <a:endParaRPr lang="ro-RO" sz="14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ro-RO" sz="1400" dirty="0" err="1">
                <a:latin typeface="Book Antiqua" panose="02040602050305030304" pitchFamily="18" charset="0"/>
              </a:rPr>
              <a:t>backend</a:t>
            </a:r>
            <a:r>
              <a:rPr lang="ro-RO" sz="1400" dirty="0">
                <a:latin typeface="Book Antiqua" panose="02040602050305030304" pitchFamily="18" charset="0"/>
              </a:rPr>
              <a:t>: </a:t>
            </a:r>
            <a:r>
              <a:rPr lang="ro-RO" sz="1400" dirty="0" err="1">
                <a:latin typeface="Book Antiqua" panose="02040602050305030304" pitchFamily="18" charset="0"/>
              </a:rPr>
              <a:t>python</a:t>
            </a:r>
            <a:r>
              <a:rPr lang="ro-RO" sz="1400" dirty="0">
                <a:latin typeface="Book Antiqua" panose="02040602050305030304" pitchFamily="18" charset="0"/>
              </a:rPr>
              <a:t>(</a:t>
            </a:r>
            <a:r>
              <a:rPr lang="ro-RO" sz="1400" dirty="0" err="1">
                <a:latin typeface="Book Antiqua" panose="02040602050305030304" pitchFamily="18" charset="0"/>
              </a:rPr>
              <a:t>Flask</a:t>
            </a:r>
            <a:r>
              <a:rPr lang="ro-RO" sz="1400" dirty="0">
                <a:latin typeface="Book Antiqua" panose="02040602050305030304" pitchFamily="18" charset="0"/>
              </a:rPr>
              <a:t>)</a:t>
            </a:r>
          </a:p>
          <a:p>
            <a:pPr algn="just"/>
            <a:endParaRPr lang="ro-RO" sz="1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67867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890</Words>
  <Application>Microsoft Office PowerPoint</Application>
  <PresentationFormat>Ecran lat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15</vt:i4>
      </vt:variant>
    </vt:vector>
  </HeadingPairs>
  <TitlesOfParts>
    <vt:vector size="20" baseType="lpstr">
      <vt:lpstr>Arial</vt:lpstr>
      <vt:lpstr>Book Antiqua</vt:lpstr>
      <vt:lpstr>Calibri</vt:lpstr>
      <vt:lpstr>Calibri Light</vt:lpstr>
      <vt:lpstr>Temă Office</vt:lpstr>
      <vt:lpstr>Sistem de recomandare pentru cărți bazat pe filtrare colaborativă</vt:lpstr>
      <vt:lpstr>Necesitatea sistemelor de recomandare</vt:lpstr>
      <vt:lpstr>De ce un sistem de recomandare?</vt:lpstr>
      <vt:lpstr>Ce este un sistem de recomandare și cum funcționează?</vt:lpstr>
      <vt:lpstr>Tipuri principale de sisteme de recomandare</vt:lpstr>
      <vt:lpstr>Filtrare colaborativă</vt:lpstr>
      <vt:lpstr>Sistem de recomandare cărți</vt:lpstr>
      <vt:lpstr>Pașii filtrării colaborative bazate pe articol</vt:lpstr>
      <vt:lpstr>1.Colectarea datelor</vt:lpstr>
      <vt:lpstr>Dataset</vt:lpstr>
      <vt:lpstr>2.Construirea matricei utilizator-articol</vt:lpstr>
      <vt:lpstr>3.Calculul similarității între articole</vt:lpstr>
      <vt:lpstr>4.Identificarea articolelor similare</vt:lpstr>
      <vt:lpstr>5.Generarea top-n recomandări</vt:lpstr>
      <vt:lpstr>Structura proiectului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 recomandare pentru cărți</dc:title>
  <dc:creator>Andrei Bitoleanu</dc:creator>
  <cp:lastModifiedBy>Andrei Bitoleanu</cp:lastModifiedBy>
  <cp:revision>3</cp:revision>
  <dcterms:created xsi:type="dcterms:W3CDTF">2025-12-09T23:28:31Z</dcterms:created>
  <dcterms:modified xsi:type="dcterms:W3CDTF">2025-12-16T22:54:26Z</dcterms:modified>
</cp:coreProperties>
</file>